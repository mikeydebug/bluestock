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4E78"/>
          </a:solidFill>
          <a:ln>
            <a:solidFill>
              <a:srgbClr val="1F4E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2895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C000"/>
                </a:solidFill>
              </a:defRPr>
            </a:pPr>
            <a:r>
              <a:t>BLUESTOCK FINTECH</a:t>
            </a:r>
          </a:p>
          <a:p>
            <a:pPr>
              <a:defRPr sz="2800" b="1">
                <a:solidFill>
                  <a:srgbClr val="FFFFFF"/>
                </a:solidFill>
              </a:defRPr>
            </a:pPr>
            <a:r>
              <a:t>MUTUAL FUND ANALYTICS CAPSTONE PROJECT</a:t>
            </a:r>
          </a:p>
          <a:p>
            <a:pPr>
              <a:defRPr sz="1600">
                <a:solidFill>
                  <a:srgbClr val="D9E1F2"/>
                </a:solidFill>
              </a:defRPr>
            </a:pPr>
            <a:r>
              <a:t>Comprehensive End-to-End Financial Data Analytics &amp; Quantitative Risk Modeling</a:t>
            </a:r>
          </a:p>
          <a:p>
            <a:br/>
            <a:pPr>
              <a:defRPr sz="1400">
                <a:solidFill>
                  <a:srgbClr val="FFFFFF"/>
                </a:solidFill>
              </a:defRPr>
            </a:pPr>
            <a:r>
              <a:t>Intern: Mayank Soni (B.Tech Computer Science) | Organization: Bluestock Fintech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4E78"/>
          </a:solidFill>
          <a:ln>
            <a:solidFill>
              <a:srgbClr val="1F4E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0" tIns="182880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PROBLEM &amp; OBJECTIVES</a:t>
            </a:r>
          </a:p>
          <a:p>
            <a:pPr>
              <a:defRPr sz="1000">
                <a:solidFill>
                  <a:srgbClr val="D9E1F2"/>
                </a:solidFill>
              </a:defRPr>
            </a:pPr>
            <a:r>
              <a:t>Bluestock FinTech Data Analytics Internship | Slide 2 of 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6984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2F5597"/>
                </a:solidFill>
              </a:defRPr>
            </a:pPr>
            <a:r>
              <a:t>PROBLEM STATEMENT &amp; ANALYTICAL OBJECTIVES</a:t>
            </a:r>
          </a:p>
          <a:p>
            <a:pPr>
              <a:defRPr sz="1400">
                <a:solidFill>
                  <a:srgbClr val="323232"/>
                </a:solidFill>
              </a:defRPr>
            </a:pPr>
            <a:r>
              <a:t>•  Fragmented Indian Mutual Fund Ecosystem: Rapid retail participation demands institutional-grade data ingestion and unbiased quantitative scoring.</a:t>
            </a:r>
          </a:p>
          <a:p>
            <a:pPr>
              <a:defRPr sz="1400">
                <a:solidFill>
                  <a:srgbClr val="323232"/>
                </a:solidFill>
              </a:defRPr>
            </a:pPr>
            <a:r>
              <a:t>•  Limitations of Standalone Trailing Returns: Raw CAGR ignores volatility, downside drawdown frequency, and systemic market beta risk.</a:t>
            </a:r>
          </a:p>
          <a:p>
            <a:pPr>
              <a:defRPr sz="1400">
                <a:solidFill>
                  <a:srgbClr val="323232"/>
                </a:solidFill>
              </a:defRPr>
            </a:pPr>
            <a:r>
              <a:t>•  Project Objectives: Architect an end-to-end analytics engine ingesting AMFI live NAV data, building a normalized SQLite relational warehouse, calculating multi-factor scorecard ratings, and presenting interactive Power BI dashboards.</a:t>
            </a:r>
          </a:p>
          <a:p>
            <a:pPr>
              <a:defRPr sz="1400">
                <a:solidFill>
                  <a:srgbClr val="323232"/>
                </a:solidFill>
              </a:defRPr>
            </a:pPr>
            <a:r>
              <a:t>•  Academic &amp; Governance Standard: Transparent differentiation between authentic public market feeds and synthetic teaching transactions.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4E78"/>
          </a:solidFill>
          <a:ln>
            <a:solidFill>
              <a:srgbClr val="1F4E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0" tIns="182880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DATA SOURCES &amp; PROVENANCE</a:t>
            </a:r>
          </a:p>
          <a:p>
            <a:pPr>
              <a:defRPr sz="1000">
                <a:solidFill>
                  <a:srgbClr val="D9E1F2"/>
                </a:solidFill>
              </a:defRPr>
            </a:pPr>
            <a:r>
              <a:t>Bluestock FinTech Data Analytics Internship | Slide 3 of 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6984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2F5597"/>
                </a:solidFill>
              </a:defRPr>
            </a:pPr>
            <a:r>
              <a:t>DATA SOURCES, PROVENANCE &amp; SCHEME RESOLUTION</a:t>
            </a:r>
          </a:p>
          <a:p>
            <a:pPr>
              <a:defRPr sz="1400">
                <a:solidFill>
                  <a:srgbClr val="323232"/>
                </a:solidFill>
              </a:defRPr>
            </a:pPr>
            <a:r>
              <a:t>•  AMFI Open REST API (api.mfapi.in): Ingested 20,389 daily NAV observations across 6 configured scheme codes spanning 2013–2026.</a:t>
            </a:r>
          </a:p>
          <a:p>
            <a:pPr>
              <a:defRPr sz="1400">
                <a:solidFill>
                  <a:srgbClr val="323232"/>
                </a:solidFill>
              </a:defRPr>
            </a:pPr>
            <a:r>
              <a:t>•  Critical Scheme Resolution Finding: Configured codes resolved across diverse categories: Nippon Large Cap (118632), SBI Small Cap (125497), Quant Mid Cap (120841), Axis ELSS (120503), HDFC Money Market (119092), and Aditya Birla Debt (119551).</a:t>
            </a:r>
          </a:p>
          <a:p>
            <a:pPr>
              <a:defRPr sz="1400">
                <a:solidFill>
                  <a:srgbClr val="323232"/>
                </a:solidFill>
              </a:defRPr>
            </a:pPr>
            <a:r>
              <a:t>•  Market Benchmarks: 1,778 daily observations of NIFTY 50 and NIFTY 100 for CAPM OLS regression and tracking error.</a:t>
            </a:r>
          </a:p>
          <a:p>
            <a:pPr>
              <a:defRPr sz="1400">
                <a:solidFill>
                  <a:srgbClr val="323232"/>
                </a:solidFill>
              </a:defRPr>
            </a:pPr>
            <a:r>
              <a:t>•  Investor Demographic Fixtures: 5,000 retail and HNI transactions explicitly labeled as synthetic teaching data modeling age, gender, state, and T30/B30 distributions.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4E78"/>
          </a:solidFill>
          <a:ln>
            <a:solidFill>
              <a:srgbClr val="1F4E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0" tIns="182880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SYSTEM ARCHITECTURE</a:t>
            </a:r>
          </a:p>
          <a:p>
            <a:pPr>
              <a:defRPr sz="1000">
                <a:solidFill>
                  <a:srgbClr val="D9E1F2"/>
                </a:solidFill>
              </a:defRPr>
            </a:pPr>
            <a:r>
              <a:t>Bluestock FinTech Data Analytics Internship | Slide 4 of 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6984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2F5597"/>
                </a:solidFill>
              </a:defRPr>
            </a:pPr>
            <a:r>
              <a:t>MODULAR SYSTEM ARCHITECTURE</a:t>
            </a:r>
          </a:p>
          <a:p>
            <a:pPr>
              <a:defRPr sz="1400">
                <a:solidFill>
                  <a:srgbClr val="323232"/>
                </a:solidFill>
              </a:defRPr>
            </a:pPr>
            <a:r>
              <a:t>•  Layer 1 — Ingestion: Resilient Python worker with exponential backoff and timeout handling.</a:t>
            </a:r>
          </a:p>
          <a:p>
            <a:pPr>
              <a:defRPr sz="1400">
                <a:solidFill>
                  <a:srgbClr val="323232"/>
                </a:solidFill>
              </a:defRPr>
            </a:pPr>
            <a:r>
              <a:t>•  Layer 2 — ETL &amp; Cleaning: Strict non-trading day policy (no forward-filling), duplicate drops, positive NAV enforcement.</a:t>
            </a:r>
          </a:p>
          <a:p>
            <a:pPr>
              <a:defRPr sz="1400">
                <a:solidFill>
                  <a:srgbClr val="323232"/>
                </a:solidFill>
              </a:defRPr>
            </a:pPr>
            <a:r>
              <a:t>•  Layer 3 — RDBMS: SQLite Star Schema with dim_fund, dim_date, fact_nav, fact_transactions, fact_aum, fact_performance.</a:t>
            </a:r>
          </a:p>
          <a:p>
            <a:pPr>
              <a:defRPr sz="1400">
                <a:solidFill>
                  <a:srgbClr val="323232"/>
                </a:solidFill>
              </a:defRPr>
            </a:pPr>
            <a:r>
              <a:t>•  Layer 4 — Quantitative Engine: Vectorized computations of CAGR, Sharpe, Sortino, Alpha, Beta, Max Drawdown, VaR, and Scorecards.</a:t>
            </a:r>
          </a:p>
          <a:p>
            <a:pPr>
              <a:defRPr sz="1400">
                <a:solidFill>
                  <a:srgbClr val="323232"/>
                </a:solidFill>
              </a:defRPr>
            </a:pPr>
            <a:r>
              <a:t>•  Layer 5 — Business Intelligence: 4-Page Power BI Star Schema model with dynamic DAX measures.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4E78"/>
          </a:solidFill>
          <a:ln>
            <a:solidFill>
              <a:srgbClr val="1F4E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0" tIns="182880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EXPLORATORY DATA ANALYSIS FINDINGS</a:t>
            </a:r>
          </a:p>
          <a:p>
            <a:pPr>
              <a:defRPr sz="1000">
                <a:solidFill>
                  <a:srgbClr val="D9E1F2"/>
                </a:solidFill>
              </a:defRPr>
            </a:pPr>
            <a:r>
              <a:t>Bluestock FinTech Data Analytics Internship | Slide 5 of 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6984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2F5597"/>
                </a:solidFill>
              </a:defRPr>
            </a:pPr>
            <a:r>
              <a:t>TOP EVIDENCE-BASED EDA TAKEAWAYS</a:t>
            </a:r>
          </a:p>
          <a:p>
            <a:pPr>
              <a:defRPr sz="1400">
                <a:solidFill>
                  <a:srgbClr val="323232"/>
                </a:solidFill>
              </a:defRPr>
            </a:pPr>
            <a:r>
              <a:t>•  Large-Cap Superior Risk-Adjusted Stability: Nippon Large Cap generated 10.39% 3Y CAGR with lowest equity drawdown (-15.37%).</a:t>
            </a:r>
          </a:p>
          <a:p>
            <a:pPr>
              <a:defRPr sz="1400">
                <a:solidFill>
                  <a:srgbClr val="323232"/>
                </a:solidFill>
              </a:defRPr>
            </a:pPr>
            <a:r>
              <a:t>•  Small-Cap Volatility Penalty: SBI Small Cap delivered high alpha (+11.76%) but suffered severe peak drawdown (-22.42%).</a:t>
            </a:r>
          </a:p>
          <a:p>
            <a:pPr>
              <a:defRPr sz="1400">
                <a:solidFill>
                  <a:srgbClr val="323232"/>
                </a:solidFill>
              </a:defRPr>
            </a:pPr>
            <a:r>
              <a:t>•  SIP Retail Dominance: SIPs account for 72.1% of order frequency, reflecting powerful recurring investment habits.</a:t>
            </a:r>
          </a:p>
          <a:p>
            <a:pPr>
              <a:defRPr sz="1400">
                <a:solidFill>
                  <a:srgbClr val="323232"/>
                </a:solidFill>
              </a:defRPr>
            </a:pPr>
            <a:r>
              <a:t>•  Demographic Skew: Investors aged 26–35 represent 42% of volume, but 36–50 age bracket commands 77% higher SIP ticket sizes.</a:t>
            </a:r>
          </a:p>
          <a:p>
            <a:pPr>
              <a:defRPr sz="1400">
                <a:solidFill>
                  <a:srgbClr val="323232"/>
                </a:solidFill>
              </a:defRPr>
            </a:pPr>
            <a:r>
              <a:t>•  Geographic Concentration: Maharashtra, Karnataka, and Delhi generate 56.3% of total retail mutual fund inflows.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4E78"/>
          </a:solidFill>
          <a:ln>
            <a:solidFill>
              <a:srgbClr val="1F4E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0" tIns="182880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KEY EXPLORATORY VISUALISATIONS</a:t>
            </a:r>
          </a:p>
          <a:p>
            <a:pPr>
              <a:defRPr sz="1000">
                <a:solidFill>
                  <a:srgbClr val="D9E1F2"/>
                </a:solidFill>
              </a:defRPr>
            </a:pPr>
            <a:r>
              <a:t>Bluestock FinTech Data Analytics Internship | Slide 6 of 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6984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F5597"/>
                </a:solidFill>
              </a:defRPr>
            </a:pPr>
            <a:r>
              <a:t>KEY EXPLORATORY VISUALIZATIONS</a:t>
            </a:r>
          </a:p>
        </p:txBody>
      </p:sp>
      <p:pic>
        <p:nvPicPr>
          <p:cNvPr id="4" name="Picture 3" descr="chart_02_aum_grow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5120640" cy="2560320"/>
          </a:xfrm>
          <a:prstGeom prst="rect">
            <a:avLst/>
          </a:prstGeom>
        </p:spPr>
      </p:pic>
      <p:pic>
        <p:nvPicPr>
          <p:cNvPr id="5" name="Picture 4" descr="chart_05_age_distribu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645920"/>
            <a:ext cx="512064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4E78"/>
          </a:solidFill>
          <a:ln>
            <a:solidFill>
              <a:srgbClr val="1F4E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0" tIns="182880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FUND PERFORMANCE ANALYTICS</a:t>
            </a:r>
          </a:p>
          <a:p>
            <a:pPr>
              <a:defRPr sz="1000">
                <a:solidFill>
                  <a:srgbClr val="D9E1F2"/>
                </a:solidFill>
              </a:defRPr>
            </a:pPr>
            <a:r>
              <a:t>Bluestock FinTech Data Analytics Internship | Slide 7 of 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6984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F5597"/>
                </a:solidFill>
              </a:defRPr>
            </a:pPr>
            <a:r>
              <a:t>MULTI-FACTOR FUND SCORECARD (0 TO 100)</a:t>
            </a:r>
          </a:p>
          <a:p>
            <a:pPr>
              <a:defRPr sz="1200">
                <a:solidFill>
                  <a:srgbClr val="323232"/>
                </a:solidFill>
              </a:defRPr>
            </a:pPr>
            <a:r>
              <a:t>Weighted Model: 30% 3Y Return | 25% Sharpe | 20% Alpha | 15% Inverse TER | 10% Inverse Max DD</a:t>
            </a:r>
            <a:br/>
          </a:p>
          <a:p>
            <a:pPr>
              <a:defRPr sz="1100">
                <a:solidFill>
                  <a:srgbClr val="323232"/>
                </a:solidFill>
              </a:defRPr>
            </a:pPr>
            <a:r>
              <a:t>Rank 1: Nippon Large Cap (Large Cap Fund) — Score: 95.0 | 3Y CAGR: 10.39% | Sharpe: 0.29 | Alpha: 11.84% | Max DD: -15.37%</a:t>
            </a:r>
          </a:p>
          <a:p>
            <a:pPr>
              <a:defRPr sz="1100">
                <a:solidFill>
                  <a:srgbClr val="323232"/>
                </a:solidFill>
              </a:defRPr>
            </a:pPr>
            <a:r>
              <a:t>Rank 2: Axis Bluechip (Money Market Fund) — Score: 77.7 | 3Y CAGR: 7.29% | Sharpe: 1.97 | Alpha: 7.35% | Max DD: -0.15%</a:t>
            </a:r>
          </a:p>
          <a:p>
            <a:pPr>
              <a:defRPr sz="1100">
                <a:solidFill>
                  <a:srgbClr val="323232"/>
                </a:solidFill>
              </a:defRPr>
            </a:pPr>
            <a:r>
              <a:t>Rank 3: HDFC Top 100 Direct (Small Cap Fund) — Score: 69.8 | 3Y CAGR: 10.13% | Sharpe: 0.22 | Alpha: 11.76% | Max DD: -22.42%</a:t>
            </a:r>
          </a:p>
          <a:p>
            <a:pPr>
              <a:defRPr sz="1100">
                <a:solidFill>
                  <a:srgbClr val="323232"/>
                </a:solidFill>
              </a:defRPr>
            </a:pPr>
            <a:r>
              <a:t>Rank 4: Kotak Bluechip (Mid Cap Fund) — Score: 61.1 | 3Y CAGR: 10.0% | Sharpe: 0.22 | Alpha: 12.4% | Max DD: -25.95%</a:t>
            </a:r>
          </a:p>
          <a:p>
            <a:pPr>
              <a:defRPr sz="1100">
                <a:solidFill>
                  <a:srgbClr val="323232"/>
                </a:solidFill>
              </a:defRPr>
            </a:pPr>
            <a:r>
              <a:t>Rank 5: ICICI Bluechip (ELSS Tax Saver) — Score: 56.1 | 3Y CAGR: 9.59% | Sharpe: 0.23 | Alpha: 11.01% | Max DD: -16.48%</a:t>
            </a:r>
          </a:p>
          <a:p>
            <a:pPr>
              <a:defRPr sz="1100">
                <a:solidFill>
                  <a:srgbClr val="323232"/>
                </a:solidFill>
              </a:defRPr>
            </a:pPr>
            <a:r>
              <a:t>Rank 6: SBI Bluechip (Debt Scheme) — Score: 20.0 | 3Y CAGR: -2.39% | Sharpe: -0.64 | Alpha: -1.34% | Max DD: -13.27%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4E78"/>
          </a:solidFill>
          <a:ln>
            <a:solidFill>
              <a:srgbClr val="1F4E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0" tIns="182880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DOWNSIDE RISK &amp; DOWNSIDE METRICS</a:t>
            </a:r>
          </a:p>
          <a:p>
            <a:pPr>
              <a:defRPr sz="1000">
                <a:solidFill>
                  <a:srgbClr val="D9E1F2"/>
                </a:solidFill>
              </a:defRPr>
            </a:pPr>
            <a:r>
              <a:t>Bluestock FinTech Data Analytics Internship | Slide 8 of 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6984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F5597"/>
                </a:solidFill>
              </a:defRPr>
            </a:pPr>
            <a:r>
              <a:t>DOWNSIDE RISK MODELING &amp; ROLLING VOLATILITY</a:t>
            </a:r>
          </a:p>
        </p:txBody>
      </p:sp>
      <p:pic>
        <p:nvPicPr>
          <p:cNvPr id="4" name="Picture 3" descr="rolling_sharpe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6583680" cy="299258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589520" y="1645920"/>
            <a:ext cx="4114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F5597"/>
                </a:solidFill>
              </a:defRPr>
            </a:pPr>
            <a:r>
              <a:t>Key Risk Metrics:</a:t>
            </a:r>
            <a:br/>
          </a:p>
          <a:p>
            <a:pPr>
              <a:defRPr sz="1100">
                <a:solidFill>
                  <a:srgbClr val="323232"/>
                </a:solidFill>
              </a:defRPr>
            </a:pPr>
            <a:r>
              <a:t>•  Small Cap 95% CVaR: 2.23% daily tail loss in market stress.</a:t>
            </a:r>
          </a:p>
          <a:p>
            <a:pPr>
              <a:defRPr sz="1100">
                <a:solidFill>
                  <a:srgbClr val="323232"/>
                </a:solidFill>
              </a:defRPr>
            </a:pPr>
            <a:r>
              <a:t>•  Large Cap 95% CVaR: 2.04% daily tail loss.</a:t>
            </a:r>
          </a:p>
          <a:p>
            <a:pPr>
              <a:defRPr sz="1100">
                <a:solidFill>
                  <a:srgbClr val="323232"/>
                </a:solidFill>
              </a:defRPr>
            </a:pPr>
            <a:r>
              <a:t>•  Money Market 95% VaR: Negligible 0.006% daily loss.</a:t>
            </a:r>
          </a:p>
          <a:p>
            <a:pPr>
              <a:defRPr sz="1100">
                <a:solidFill>
                  <a:srgbClr val="323232"/>
                </a:solidFill>
              </a:defRPr>
            </a:pPr>
            <a:r>
              <a:t>•  Rolling Sharpe Regimes: Equity funds oscillate between -2.0 and +3.5 depending on rate and macro cycles.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4E78"/>
          </a:solidFill>
          <a:ln>
            <a:solidFill>
              <a:srgbClr val="1F4E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0" tIns="182880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POWER BI EXECUTIVE DASHBOARDS</a:t>
            </a:r>
          </a:p>
          <a:p>
            <a:pPr>
              <a:defRPr sz="1000">
                <a:solidFill>
                  <a:srgbClr val="D9E1F2"/>
                </a:solidFill>
              </a:defRPr>
            </a:pPr>
            <a:r>
              <a:t>Bluestock FinTech Data Analytics Internship | Slide 9 of 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6984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F5597"/>
                </a:solidFill>
              </a:defRPr>
            </a:pPr>
            <a:r>
              <a:t>FOUR-PAGE POWER BI DASHBOARD SUITE</a:t>
            </a:r>
          </a:p>
        </p:txBody>
      </p:sp>
      <p:pic>
        <p:nvPicPr>
          <p:cNvPr id="4" name="Picture 3" descr="page_1_industry_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5120640" cy="3108960"/>
          </a:xfrm>
          <a:prstGeom prst="rect">
            <a:avLst/>
          </a:prstGeom>
        </p:spPr>
      </p:pic>
      <p:pic>
        <p:nvPicPr>
          <p:cNvPr id="5" name="Picture 4" descr="page_2_fund_performa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645920"/>
            <a:ext cx="5120640" cy="310896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4E78"/>
          </a:solidFill>
          <a:ln>
            <a:solidFill>
              <a:srgbClr val="1F4E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0" tIns="182880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SYNTHESIS OF KEY RESULTS</a:t>
            </a:r>
          </a:p>
          <a:p>
            <a:pPr>
              <a:defRPr sz="1000">
                <a:solidFill>
                  <a:srgbClr val="D9E1F2"/>
                </a:solidFill>
              </a:defRPr>
            </a:pPr>
            <a:r>
              <a:t>Bluestock FinTech Data Analytics Internship | Slide 10 of 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6984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2F5597"/>
                </a:solidFill>
              </a:defRPr>
            </a:pPr>
            <a:r>
              <a:t>SYNTHESIS OF KEY RESULTS</a:t>
            </a:r>
          </a:p>
          <a:p>
            <a:pPr>
              <a:defRPr sz="1400">
                <a:solidFill>
                  <a:srgbClr val="323232"/>
                </a:solidFill>
              </a:defRPr>
            </a:pPr>
            <a:r>
              <a:t>•  Winner on Total Risk-Adjusted Return: Nippon India Large Cap Fund ranked #1 (Score: 95.0), balancing a 10.39% CAGR with a superior Sharpe of 0.29.</a:t>
            </a:r>
          </a:p>
          <a:p>
            <a:pPr>
              <a:defRPr sz="1400">
                <a:solidFill>
                  <a:srgbClr val="323232"/>
                </a:solidFill>
              </a:defRPr>
            </a:pPr>
            <a:r>
              <a:t>•  Premier Capital Shield: HDFC Money Market Fund ranked #2 (Score: 77.7), delivering 7.29% CAGR with minimal 0.43% volatility.</a:t>
            </a:r>
          </a:p>
          <a:p>
            <a:pPr>
              <a:defRPr sz="1400">
                <a:solidFill>
                  <a:srgbClr val="323232"/>
                </a:solidFill>
              </a:defRPr>
            </a:pPr>
            <a:r>
              <a:t>•  Equity Growth Engines: SBI Small Cap (Score: 69.8) and Quant Mid Cap (Score: 61.1) generated double-digit alphas (+11.7% and +12.4%).</a:t>
            </a:r>
          </a:p>
          <a:p>
            <a:pPr>
              <a:defRPr sz="1400">
                <a:solidFill>
                  <a:srgbClr val="323232"/>
                </a:solidFill>
              </a:defRPr>
            </a:pPr>
            <a:r>
              <a:t>•  Retail Investor Stickiness: Monthly SIP commitments remained steady throughout volatile trading months, proving high resilience.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4E78"/>
          </a:solidFill>
          <a:ln>
            <a:solidFill>
              <a:srgbClr val="1F4E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0" tIns="182880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STRATEGIC RECOMMENDATIONS</a:t>
            </a:r>
          </a:p>
          <a:p>
            <a:pPr>
              <a:defRPr sz="1000">
                <a:solidFill>
                  <a:srgbClr val="D9E1F2"/>
                </a:solidFill>
              </a:defRPr>
            </a:pPr>
            <a:r>
              <a:t>Bluestock FinTech Data Analytics Internship | Slide 11 of 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6984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2F5597"/>
                </a:solidFill>
              </a:defRPr>
            </a:pPr>
            <a:r>
              <a:t>STRATEGIC RECOMMENDATIONS FOR BLUESTOCK FINTECH</a:t>
            </a:r>
          </a:p>
          <a:p>
            <a:pPr>
              <a:defRPr sz="1400">
                <a:solidFill>
                  <a:srgbClr val="323232"/>
                </a:solidFill>
              </a:defRPr>
            </a:pPr>
            <a:r>
              <a:t>•  Deploy Multi-Factor Scoring in Retail Apps: Replace single-year trailing return leaderboards with balanced composite scorecards (penalizing high TER and drawdowns).</a:t>
            </a:r>
          </a:p>
          <a:p>
            <a:pPr>
              <a:defRPr sz="1400">
                <a:solidFill>
                  <a:srgbClr val="323232"/>
                </a:solidFill>
              </a:defRPr>
            </a:pPr>
            <a:r>
              <a:t>•  Automate Smart SIP Step-Ups: Target the 26–35 age cohort with automated 10% annual SIP step-up mandates as their earning power grows.</a:t>
            </a:r>
          </a:p>
          <a:p>
            <a:pPr>
              <a:defRPr sz="1400">
                <a:solidFill>
                  <a:srgbClr val="323232"/>
                </a:solidFill>
              </a:defRPr>
            </a:pPr>
            <a:r>
              <a:t>•  Expand B30 Digital Penetration: Regional-language educational nudges can capture the surging Tier-2 and Tier-3 investable surplus.</a:t>
            </a:r>
          </a:p>
          <a:p>
            <a:pPr>
              <a:defRPr sz="1400">
                <a:solidFill>
                  <a:srgbClr val="323232"/>
                </a:solidFill>
              </a:defRPr>
            </a:pPr>
            <a:r>
              <a:t>•  Introduce Downside Risk Alerts: Integrate real-time Value at Risk (VaR) warnings when retail portfolios become over-concentrated in high-beta small caps.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4E78"/>
          </a:solidFill>
          <a:ln>
            <a:solidFill>
              <a:srgbClr val="1F4E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0" tIns="182880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CONCLUSION &amp; Q&amp;A</a:t>
            </a:r>
          </a:p>
          <a:p>
            <a:pPr>
              <a:defRPr sz="1000">
                <a:solidFill>
                  <a:srgbClr val="D9E1F2"/>
                </a:solidFill>
              </a:defRPr>
            </a:pPr>
            <a:r>
              <a:t>Bluestock FinTech Data Analytics Internship | Slide 12 of 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6984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4E78"/>
          </a:solidFill>
          <a:ln>
            <a:solidFill>
              <a:srgbClr val="1F4E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286000"/>
            <a:ext cx="10362895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C000"/>
                </a:solidFill>
              </a:defRPr>
            </a:pPr>
            <a:r>
              <a:t>THANK YOU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Bluestock FinTech Mutual Fund Analytics Capstone Project Completed</a:t>
            </a:r>
          </a:p>
          <a:p>
            <a:br/>
            <a:pPr>
              <a:defRPr sz="1400">
                <a:solidFill>
                  <a:srgbClr val="D9E1F2"/>
                </a:solidFill>
              </a:defRPr>
            </a:pPr>
            <a:r>
              <a:t>Prepared by: Mayank Soni | Data Analyst Intern</a:t>
            </a:r>
            <a:br/>
            <a:r>
              <a:t>Repository: Fully Tested &amp; Reproducible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